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3A5C"/>
                </a:solidFill>
                <a:latin typeface="Calibri"/>
              </a:defRPr>
            </a:pPr>
            <a:r>
              <a:t>SEMINAR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A5C"/>
                </a:solidFill>
                <a:latin typeface="Calibri"/>
              </a:defRPr>
            </a:pPr>
            <a:r>
              <a:t>Analisis Preskriptif Kualitas Air Menggunakan Natural Gradient Boosting dan Counterfactual Explanations</a:t>
            </a:r>
          </a:p>
          <a:p>
            <a:pPr algn="ctr"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 algn="ctr">
              <a:defRPr sz="1800">
                <a:solidFill>
                  <a:srgbClr val="000000"/>
                </a:solidFill>
                <a:latin typeface="Calibri"/>
              </a:defRPr>
            </a:pPr>
            <a:r>
              <a:t>Aflah Zaki Siregar</a:t>
            </a:r>
          </a:p>
          <a:p>
            <a:pPr algn="ctr">
              <a:defRPr sz="1800">
                <a:solidFill>
                  <a:srgbClr val="000000"/>
                </a:solidFill>
                <a:latin typeface="Calibri"/>
              </a:defRPr>
            </a:pPr>
            <a:r>
              <a:t>NIM: 103062300095</a:t>
            </a:r>
          </a:p>
          <a:p>
            <a:pPr algn="ctr">
              <a:defRPr sz="1800">
                <a:solidFill>
                  <a:srgbClr val="000000"/>
                </a:solidFill>
                <a:latin typeface="Calibri"/>
              </a:defRPr>
            </a:pPr>
            <a:r>
              <a:t>Program Studi: S1 IT-KJ-23-002</a:t>
            </a:r>
          </a:p>
          <a:p>
            <a:pPr algn="ctr"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 algn="ctr">
              <a:defRPr sz="1800">
                <a:solidFill>
                  <a:srgbClr val="000000"/>
                </a:solidFill>
                <a:latin typeface="Calibri"/>
              </a:defRPr>
            </a:pPr>
            <a:r>
              <a:t>Dosen Pembimbing 1: Nurul Ilmi, S.Kom., M.T.</a:t>
            </a:r>
          </a:p>
          <a:p>
            <a:pPr algn="ctr">
              <a:defRPr sz="1800">
                <a:solidFill>
                  <a:srgbClr val="000000"/>
                </a:solidFill>
                <a:latin typeface="Calibri"/>
              </a:defRPr>
            </a:pPr>
            <a:r>
              <a:t>Dosen Pembimbing 2: Rana Zaini Fathiyana, S.ST., M.T.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  <a:latin typeface="Calibri"/>
              </a:defRPr>
            </a:pPr>
            <a:r>
              <a:t>LATAR BELAKANG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Kualitas air minum yang memenuhi standar adalah aspek fundamental kesehatan masyarakat. 2 miliar orang belum memiliki akses air minum aman [1][2].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Permenkes No. 2/2023 menetapkan Standar Baku Mutu Kesehatan Lingkungan (SBMKL). Monitoring laboratorium tradisional membutuhkan biaya tinggi dan waktu lama [3].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Machine learning (XGBoost, RF) mampu memprediksi kualitas air secara cepat, NAMUN hanya menghasilkan prediksi DETERMINISTIK — label 'layak/tidak layak' tanpa informasi ketidakpastian [4][5].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0" y="4114800"/>
            <a:ext cx="3474720" cy="2286000"/>
          </a:xfrm>
          <a:prstGeom prst="rect">
            <a:avLst/>
          </a:prstGeom>
          <a:solidFill>
            <a:srgbClr val="F5F5F5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808080"/>
                </a:solidFill>
                <a:latin typeface="Calibri"/>
              </a:defRPr>
            </a:pPr>
            <a:r>
              <a:t>[VISUALISASI: Masukkan gambar infografis masalah air / statistik WHO — buat sendiri di Canva]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  <a:latin typeface="Calibri"/>
              </a:defRPr>
            </a:pPr>
            <a:r>
              <a:t>LATAR BELAKANG (Lanjutan)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NGBoost memodelkan DISTRIBUSI PROBABILITAS penuh → menghasilkan P(y=1|x) terkalibrasi yang memberitahu SEBERAPA YAKIN prediksinya [6].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Namun mengetahui 'tidak layak 89%' saja BELUM CUKUP — perlu tahu APA YANG HARUS DIPERBAIKI.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Explainable AI (DiCE) menghasilkan rekomendasi PRESKRIPTIF: 'turunkan pH dari 9.9 ke 8.4, kurangi Chloramines ke 3.5 mg/l' [7].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Integrasi NGBoost + DiCE = framework PRESKRIPTIF LENGKAP: prediksi + keyakinan + rekomendasi perbaikan [6][7].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0" y="1097280"/>
            <a:ext cx="3474720" cy="2286000"/>
          </a:xfrm>
          <a:prstGeom prst="rect">
            <a:avLst/>
          </a:prstGeom>
          <a:solidFill>
            <a:srgbClr val="F5F5F5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808080"/>
                </a:solidFill>
                <a:latin typeface="Calibri"/>
              </a:defRPr>
            </a:pPr>
            <a:r>
              <a:t>[VISUALISASI: Figure 1 dari Duan et al. 2020 — file: NGBoost_Natural_Gradient_Boosting_for_Probabilistic_Prediction.pdf, Halaman 1, pojok kanan atas]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0" y="4114800"/>
            <a:ext cx="3474720" cy="2286000"/>
          </a:xfrm>
          <a:prstGeom prst="rect">
            <a:avLst/>
          </a:prstGeom>
          <a:solidFill>
            <a:srgbClr val="F5F5F5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808080"/>
                </a:solidFill>
                <a:latin typeface="Calibri"/>
              </a:defRPr>
            </a:pPr>
            <a:r>
              <a:t>[VISUALISASI: Box perbandingan 'XGBoost: yes/no only' vs 'NGBoost+DiCE: probability + rekomendasi' — buat sendiri di Canva]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  <a:latin typeface="Calibri"/>
              </a:defRPr>
            </a:pPr>
            <a:r>
              <a:t>PENELITIAN TERKAIT &amp; GAP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2011680"/>
                <a:gridCol w="2286000"/>
                <a:gridCol w="2103120"/>
              </a:tblGrid>
              <a:tr h="6096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Author &amp; Tahun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Metode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Tipe Prediksi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Explainability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Domain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Aslam et al. (2022)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Hybrid NN+XGB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Deterministik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Deskriptif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Air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Al Bataineh et al. (2026)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XGBoost+NN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Deterministik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Pasif (SHAP)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Air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Park et al. (2022)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XGBoost+SHAP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Deterministik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Pasif (SHAP)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Air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Mothilal et al. (2020)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Deterministik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Preskriptif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Non-Air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Penelitian Ini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NGBoost+DiCE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Probabilistik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Aktif Preskriptif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Air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GAP: Belum ada integrasi model PROBABILISTIK + counterfactual explanations di domain kualitas air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  <a:latin typeface="Calibri"/>
              </a:defRPr>
            </a:pPr>
            <a:r>
              <a:t>PERUMUSAN MASALAH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515600" cy="1371600"/>
          </a:xfrm>
          <a:prstGeom prst="roundRect">
            <a:avLst/>
          </a:prstGeom>
          <a:solidFill>
            <a:srgbClr val="E8F0FE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>
              <a:defRPr sz="1800">
                <a:solidFill>
                  <a:srgbClr val="000000"/>
                </a:solidFill>
                <a:latin typeface="Calibri"/>
              </a:defRPr>
            </a:pPr>
            <a:r>
              <a:t>RQ1: Bagaimana performa NGBoost dalam memodelkan kelayakan air secara PROBABILISTIK dibandingkan baseline (XGBoost, RF)?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200400"/>
            <a:ext cx="10515600" cy="1371600"/>
          </a:xfrm>
          <a:prstGeom prst="roundRect">
            <a:avLst/>
          </a:prstGeom>
          <a:solidFill>
            <a:srgbClr val="E8F0FE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>
              <a:defRPr sz="1800">
                <a:solidFill>
                  <a:srgbClr val="000000"/>
                </a:solidFill>
                <a:latin typeface="Calibri"/>
              </a:defRPr>
            </a:pPr>
            <a:r>
              <a:t>RQ2: Bagaimana implementasi DiCE pada NGBoost untuk menghasilkan REKOMENDASI PRESKRIPTIF perubahan parameter air?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029200"/>
            <a:ext cx="10515600" cy="1371600"/>
          </a:xfrm>
          <a:prstGeom prst="roundRect">
            <a:avLst/>
          </a:prstGeom>
          <a:solidFill>
            <a:srgbClr val="E8F0FE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>
              <a:defRPr sz="1800">
                <a:solidFill>
                  <a:srgbClr val="000000"/>
                </a:solidFill>
                <a:latin typeface="Calibri"/>
              </a:defRPr>
            </a:pPr>
            <a:r>
              <a:t>RQ3: Sejauh mana kualitas rekomendasi counterfactual memenuhi properti validity, proximity, sparsity, diversity?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  <a:latin typeface="Calibri"/>
              </a:defRPr>
            </a:pPr>
            <a:r>
              <a:t>TUJUAN PENELITIAN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Menganalisis performa NGBoost secara komparatif terhadap baseline dari metrik klasifikasi (Accuracy, Precision, Recall, F1) DAN kalibrasi (NLL, ECE).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Mengimplementasikan DiCE pada NGBoost untuk menghasilkan rekomendasi perubahan parameter fisikokimia yang mengubah status air.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Menganalisis kualitas counterfactual berdasarkan validity, proximity, sparsity, diversity.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  <a:latin typeface="Calibri"/>
              </a:defRPr>
            </a:pPr>
            <a:r>
              <a:t>BATASAN MASALAH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● Dataset: Water Potability (Kadiwal) + Canada (Nature Scientific Data)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● Parameter: 8-9 fitur fisikokimia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● Klasifikasi: Binary (Kadiwal) + 5-class CCME (Canada)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● Lingkungan: Python, Google Colab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303520"/>
            <a:ext cx="10972800" cy="1097280"/>
          </a:xfrm>
          <a:prstGeom prst="rect">
            <a:avLst/>
          </a:prstGeom>
          <a:solidFill>
            <a:srgbClr val="F5F5F5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808080"/>
                </a:solidFill>
                <a:latin typeface="Calibri"/>
              </a:defRPr>
            </a:pPr>
            <a:r>
              <a:t>[JADWAL KEGIATAN: Dikosongkan — isi sendiri]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  <a:latin typeface="Calibri"/>
              </a:defRPr>
            </a:pPr>
            <a:r>
              <a:t>DATA PENELITIAN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000000"/>
                </a:solidFill>
                <a:latin typeface="Calibri"/>
              </a:defRPr>
            </a:pPr>
            <a:r>
              <a:t>Dataset Utama: Kadiwal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• 3,276 sampel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• 9 fitur fisikokimia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• Binary (Potable/Not Potable)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• Missing values: pH, Sulfate, THMs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• Sumber: Kaggle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1887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000000"/>
                </a:solidFill>
                <a:latin typeface="Calibri"/>
              </a:defRPr>
            </a:pPr>
            <a:r>
              <a:t>Dataset Pendukung: Canada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• 3,949 sampel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• 8 fitur fisikokimia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• 5-class (CCME WQI)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• 0 missing values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• Sumber: Nature Scientific Data (2025)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303520"/>
            <a:ext cx="10972800" cy="1280160"/>
          </a:xfrm>
          <a:prstGeom prst="rect">
            <a:avLst/>
          </a:prstGeom>
          <a:solidFill>
            <a:srgbClr val="F5F5F5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808080"/>
                </a:solidFill>
                <a:latin typeface="Calibri"/>
              </a:defRPr>
            </a:pPr>
            <a:r>
              <a:t>[VISUALISASI: Bar chart distribusi kelas kedua dataset — dari Colab output Cell 5 notebook Kadiwal dan Canada]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  <a:latin typeface="Calibri"/>
              </a:defRPr>
            </a:pPr>
            <a:r>
              <a:t>ALUR METODOLOGI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645920"/>
            <a:ext cx="3474720" cy="3200400"/>
          </a:xfrm>
          <a:prstGeom prst="roundRect">
            <a:avLst/>
          </a:prstGeom>
          <a:solidFill>
            <a:srgbClr val="E8F0FE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B3A5C"/>
                </a:solidFill>
                <a:latin typeface="Calibri"/>
              </a:defRPr>
            </a:pPr>
            <a:r>
              <a:t>PREPROCESSING</a:t>
            </a:r>
          </a:p>
          <a:p>
            <a:pPr algn="ctr">
              <a:defRPr sz="1400">
                <a:solidFill>
                  <a:srgbClr val="000000"/>
                </a:solidFill>
                <a:latin typeface="Calibri"/>
              </a:defRPr>
            </a:pPr>
            <a:r>
              <a:t>• Split 70/15/15</a:t>
            </a:r>
          </a:p>
          <a:p>
            <a:pPr algn="ctr">
              <a:defRPr sz="1400">
                <a:solidFill>
                  <a:srgbClr val="000000"/>
                </a:solidFill>
                <a:latin typeface="Calibri"/>
              </a:defRPr>
            </a:pPr>
            <a:r>
              <a:t>• Median Imputation</a:t>
            </a:r>
          </a:p>
          <a:p>
            <a:pPr algn="ctr">
              <a:defRPr sz="1400">
                <a:solidFill>
                  <a:srgbClr val="000000"/>
                </a:solidFill>
                <a:latin typeface="Calibri"/>
              </a:defRPr>
            </a:pPr>
            <a:r>
              <a:t>• MinMax Scaling</a:t>
            </a:r>
          </a:p>
          <a:p>
            <a:pPr algn="ctr">
              <a:defRPr sz="1400">
                <a:solidFill>
                  <a:srgbClr val="000000"/>
                </a:solidFill>
                <a:latin typeface="Calibri"/>
              </a:defRPr>
            </a:pPr>
            <a:r>
              <a:t>• SMOTE-ENN evaluated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2743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B3A5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474720" cy="3200400"/>
          </a:xfrm>
          <a:prstGeom prst="roundRect">
            <a:avLst/>
          </a:prstGeom>
          <a:solidFill>
            <a:srgbClr val="E8F0FE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B3A5C"/>
                </a:solidFill>
                <a:latin typeface="Calibri"/>
              </a:defRPr>
            </a:pPr>
            <a:r>
              <a:t>FASE A: PEMODELAN</a:t>
            </a:r>
          </a:p>
          <a:p>
            <a:pPr algn="ctr">
              <a:defRPr sz="1400">
                <a:solidFill>
                  <a:srgbClr val="000000"/>
                </a:solidFill>
                <a:latin typeface="Calibri"/>
              </a:defRPr>
            </a:pPr>
            <a:r>
              <a:t>• NGBoost (Bernoulli)</a:t>
            </a:r>
          </a:p>
          <a:p>
            <a:pPr algn="ctr">
              <a:defRPr sz="1400">
                <a:solidFill>
                  <a:srgbClr val="000000"/>
                </a:solidFill>
                <a:latin typeface="Calibri"/>
              </a:defRPr>
            </a:pPr>
            <a:r>
              <a:t>• XGBoost (baseline)</a:t>
            </a:r>
          </a:p>
          <a:p>
            <a:pPr algn="ctr">
              <a:defRPr sz="1400">
                <a:solidFill>
                  <a:srgbClr val="000000"/>
                </a:solidFill>
                <a:latin typeface="Calibri"/>
              </a:defRPr>
            </a:pPr>
            <a:r>
              <a:t>• RF (baseline)</a:t>
            </a:r>
          </a:p>
          <a:p>
            <a:pPr algn="ctr">
              <a:defRPr sz="1400">
                <a:solidFill>
                  <a:srgbClr val="000000"/>
                </a:solidFill>
                <a:latin typeface="Calibri"/>
              </a:defRPr>
            </a:pPr>
            <a:r>
              <a:t>• Evaluasi + McNemar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2743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B3A5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645920"/>
            <a:ext cx="3474720" cy="3200400"/>
          </a:xfrm>
          <a:prstGeom prst="roundRect">
            <a:avLst/>
          </a:prstGeom>
          <a:solidFill>
            <a:srgbClr val="E8F0FE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B3A5C"/>
                </a:solidFill>
                <a:latin typeface="Calibri"/>
              </a:defRPr>
            </a:pPr>
            <a:r>
              <a:t>FASE B: DiCE</a:t>
            </a:r>
          </a:p>
          <a:p>
            <a:pPr algn="ctr">
              <a:defRPr sz="1400">
                <a:solidFill>
                  <a:srgbClr val="000000"/>
                </a:solidFill>
                <a:latin typeface="Calibri"/>
              </a:defRPr>
            </a:pPr>
            <a:r>
              <a:t>• Counterfactual generation</a:t>
            </a:r>
          </a:p>
          <a:p>
            <a:pPr algn="ctr">
              <a:defRPr sz="1400">
                <a:solidFill>
                  <a:srgbClr val="000000"/>
                </a:solidFill>
                <a:latin typeface="Calibri"/>
              </a:defRPr>
            </a:pPr>
            <a:r>
              <a:t>• Constraint WHO/Permenkes</a:t>
            </a:r>
          </a:p>
          <a:p>
            <a:pPr algn="ctr">
              <a:defRPr sz="1400">
                <a:solidFill>
                  <a:srgbClr val="000000"/>
                </a:solidFill>
                <a:latin typeface="Calibri"/>
              </a:defRPr>
            </a:pPr>
            <a:r>
              <a:t>• Evaluasi CF properti</a:t>
            </a:r>
          </a:p>
          <a:p>
            <a:pPr algn="ctr">
              <a:defRPr sz="1400">
                <a:solidFill>
                  <a:srgbClr val="000000"/>
                </a:solidFill>
                <a:latin typeface="Calibri"/>
              </a:defRPr>
            </a:pPr>
            <a:r>
              <a:t>• Output preskriptif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Zero Leakage Methodology — Split SEBELUM preprocessing [ref: van de Mortel 2025]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  <a:latin typeface="Calibri"/>
              </a:defRPr>
            </a:pPr>
            <a:r>
              <a:t>METRIK EVALUASI &amp; LINGKUNGAN SIMULASI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029200"/>
                <a:gridCol w="3931920"/>
              </a:tblGrid>
              <a:tr h="685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Aspek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Metrik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Tujuan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Klasifikasi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Accuracy, Precision, Recall, F1, AUC-ROC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Performa diskriminatif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Kalibrasi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NLL, ECE, Calibration Curve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Kualitas probabilitas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Counterfactual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Validity, Proximity, Sparsity, Diversity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Kualitas rekomendasi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29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Calibri"/>
              </a:defRPr>
            </a:pPr>
            <a:r>
              <a:t>Lingkungan: Python 3.10+ | Google Colab | ngboost | dice-ml | xgboost | scikit-learn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  <a:latin typeface="Calibri"/>
              </a:defRPr>
            </a:pPr>
            <a:r>
              <a:t>HASIL SEMENTARA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0972800" cy="3200400"/>
          </a:xfrm>
          <a:prstGeom prst="rect">
            <a:avLst/>
          </a:prstGeom>
          <a:solidFill>
            <a:srgbClr val="F5F5F5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808080"/>
                </a:solidFill>
                <a:latin typeface="Calibri"/>
              </a:defRPr>
            </a:pPr>
            <a:r>
              <a:t>[DIKOSONGKAN — Isi sendiri dengan hasil dari Colab]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80"/>
                </a:solidFill>
                <a:latin typeface="Calibri"/>
              </a:defRPr>
            </a:pPr>
            <a:r>
              <a:t>Saran isi: Tabel accuracy Canada (96%) vs Kadiwal (67-70%), contoh output DiCE, uncertainty zone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B3A5C"/>
                </a:solidFill>
                <a:latin typeface="Calibri"/>
              </a:defRPr>
            </a:pPr>
            <a:r>
              <a:t>TERIMA KASIH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0000"/>
                </a:solidFill>
                <a:latin typeface="Calibri"/>
              </a:defRPr>
            </a:pPr>
            <a:r>
              <a:t>Aflah Zaki Siregar — 103062300095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08080"/>
                </a:solidFill>
                <a:latin typeface="Calibri"/>
              </a:defRPr>
            </a:pPr>
            <a:r>
              <a:t>Pertanyaan?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